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진단·평가와 생활 지침을 바탕으로 AI가 먼저 확인 질문을 하고, 환자 답변을 원문 근거와 14일 내원 리포트로 잇는 프로토타입입니다. Track 2로 출품합니다.”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0:20–0:55 (35초)</a:t>
            </a:r>
          </a:p>
          <a:p/>
          <a:p>
            <a:r>
              <a:t>“환자는 진료 뒤 수면과 식사 같은 지침을 생활 속에서 따르려 하지만 며칠 뒤 날짜별 경과를 정확히 말하기 어렵습니다. 한의사는 다음 방문에서 자기보고의 맥락과 기록이 없는 기간을 구분해야 합니다. 지금의 문제 정의는 제품 가설입니다. 실제 환자 수나 개선 효과를 조사했다고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0:55–1:25 (30초)</a:t>
            </a:r>
          </a:p>
          <a:p/>
          <a:p>
            <a:r>
              <a:t>“한의학을 선택한 이유는 생활습관 지침이 중요하고, 한자 원전의 정보 장벽이 높으며, 환자와 한의사가 반복적으로 만나는 접점이 있기 때문입니다. 원전은 역사 자료입니다. 그 내용을 현대 임상 효능이나 개인별 처방 근거로 섞지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1:25–1:55 (30초)</a:t>
            </a:r>
          </a:p>
          <a:p/>
          <a:p>
            <a:r>
              <a:t>“사용 흐름은 네 단계입니다. 한의사가 진단·평가와 생활 지침 원문을 입력합니다. Hanui가 그 맥락으로 먼저 확인 질문을 하고 환자가 답합니다. 답변은 실천 기록·짧은 코칭과 고문헌 원문 탐색으로 이어집니다. 14일 리포트를 만들고 다음 방문을 준비합니다. 대화와 기록은 세션별 SQLite에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1:55–2:35 (40초)</a:t>
            </a:r>
          </a:p>
          <a:p/>
          <a:p>
            <a:r>
              <a:t>“서비스 모델은 현재 ChatGPT 로그인으로 호출하는 GPT-6 Luna, high입니다. 의료진이 입력한 평가를 맥락으로 첫 질문을 고르고, 답변에서 기록 후보와 DB 검색어를 정합니다. 필요하면 OpenAI 웹 검색으로 공개 병원 정보를 찾습니다. 서버는 환자 원문의 날짜·수치를 재계산하고 DB 인용 문자열·위치, 대화 소유권과 일정 상태를 확인합니다. AI는 의료진 평가를 임의로 갱신하거나 진단하지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2:35–3:10 (35초)</a:t>
            </a:r>
          </a:p>
          <a:p/>
          <a:p>
            <a:r>
              <a:t>“SQLite에는 현대 자료의 자체 요약 42건, 고문헌 원문 발췌 57건, 모두 99건이 있습니다. 동의보감, 황제내경, 신농본초경의 고정 Wikisource 판본을 담았습니다. Luna가 한국어로 읽어 주고 원문 위치를 제시합니다. 원문 문자 일치는 검사하지만 해석의 의학적 타당성까지 자동 검증하지는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3:10–3:50 (40초)</a:t>
            </a:r>
          </a:p>
          <a:p/>
          <a:p>
            <a:r>
              <a:t>“이제 실제 Luna 대화 C입니다. 한의사가 기록한 진단·평가와 23시 전 취침 지침을 바탕으로 Hanui가 먼저 취침 시각을 물었습니다. 제가 ‘어제 새벽 1시에 잤어. 어제 5시간 잤어’라고 답하겠습니다.” **C 화면에서 전송 후 약 20초 기다린다.** “환자 발언의 날짜와 시각을 확인해 취침 지침과의 차이를 기록하고, 오늘 피곤함이나 불편함을 이어 묻습니다. 오른쪽 PDF 캡처는 같은 기능의 별도 합성 데모 A입니다.”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3:50–4:35 (45초)</a:t>
            </a:r>
          </a:p>
          <a:p/>
          <a:p>
            <a:r>
              <a:t>“이제 별도로 준비한 합성 대화 A에서 자료 검색을 보겠습니다. 실제 서비스에서는 모델이 검색어를 정하고 서버가 DB의 원문·독해·메타데이터를 전문 검색합니다. 결과 카드에서는 한국어 해석을 먼저 읽고, 펼치면 원문·장절·문자 위치를 확인합니다. 인용 문자열이 DB 본문에 없으면 저장하지 않습니다. 환자 대화는 이전 기록을 이어갑니다.” 화면: A 대화·출처 카드.</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4:35–5:25 (50초)</a:t>
            </a:r>
          </a:p>
          <a:p/>
          <a:p>
            <a:r>
              <a:t>“이 화면은 방금 실제로 답한 C와 **별개의 합성 대화 A**에서 미리 준비한 14일 내원 리포트입니다. 8일에 기록이 있고, 그중 6일이 지침을 준수해 75%입니다. 기록 없는 6일은 미준수로 세지 않습니다. 수면과 식사 추이, 불편감도 환자가 말한 날짜와 원문 문장에 연결됩니다. 근거를 누르면 메시지의 인용 위치가 보이고 다시 대화로 돌아갑니다. PDF에서도 그 링크를 사용할 수 있습니다. 이 비율은 기능 예시이지 임상 결과가 아닙니다.” 화면: 비율·빈 날·근거.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5:25–5:55 (30초)</a:t>
            </a:r>
          </a:p>
          <a:p/>
          <a:p>
            <a:r>
              <a:t>“잘못된 판단을 줄이는 규칙도 있습니다. 같은 날 커피를 한 잔과 세 잔이라고 달리 말하면 상충으로 보류합니다. 입력하지 않은 날은 기록 없음으로 표시합니다. 타인 이야기, 미래 계획, 가정 질문은 당일 실천으로 채우지 않습니다. 환자가 잘못 추출된 관찰을 제외할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5:55–6:30 (35초)</a:t>
            </a:r>
          </a:p>
          <a:p/>
          <a:p>
            <a:r>
              <a:t>“다음 방문에서는 Luna High가 실제 공개 병원 정보를 찾아 이름·주소·추천 근거와 전화·예약 링크를 보여줍니다. 사용자가 고른 병원과 희망 시간은 예약 준비로 저장합니다. 병원 접수는 외부에서 진행하고, 사용자가 확정됐다고 보고해야 상태를 바꿉니다. 자체 캘린더에서 개인 일정 추가·변경·삭제, ICS 내보내기를 할 수 있습니다.” 화면: 병원 카드 또는 달력.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6:30–7:05 (35초)</a:t>
            </a:r>
          </a:p>
          <a:p/>
          <a:p>
            <a:r>
              <a:t>“76개 단위 테스트를 통과했습니다. 실제 Luna 계정으로 선행 질문·환자 답변·코칭의 연결 1회, 지침 대화 4턴, 달력 8턴, 새 고문헌 번역 1턴을 확인했습니다. 환자 발언에 없는 수치를 추측하지 않는 규칙과 실패 시 되돌림도 검사했습니다. 14일·병원·환자는 합성 자료이며 실제 사용자 편익과 임상 해석은 아직 검증하지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7:05–7:35 (30초)</a:t>
            </a:r>
          </a:p>
          <a:p/>
          <a:p>
            <a:r>
              <a:t>“Codex가 Python 서버, DB, UI, 검색, 테스트와 자료 정리를 맡고, 원전 판본과 인용 위치, 환자 문장의 연결, 모바일 동작을 다시 대조했습니다. 사용자 피드백에 따라 기능 범위를 핵심 흐름에 집중하고, 대화창을 키우고 보조정보를 접었으며 한국어 해석을 먼저 보이게 했습니다. 상충 기록 보류와 예약 상태 구분도 개선했습니다.”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7:35–8:00 (25초)</a:t>
            </a:r>
          </a:p>
          <a:p/>
          <a:p>
            <a:r>
              <a:t>“잠재 도입·비용 주체는 한의원, 사용자는 환자입니다. 진료 후 지침 입력, 환자 대화, 원문 근거 리포트 확인으로 운영합니다. 지침 변경과 재방문마다 기록을 이어 쓸 수 있습니다. 확인 시간과 반복 질문 부담 감소는 가설이므로 작은 파일럿에서 확인 시간, 재사용률, 모델 호출 비용을 측정하겠습니다.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제안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14</a:t>
            </a:r>
          </a:p>
        </p:txBody>
      </p:sp>
      <p:sp>
        <p:nvSpPr>
          <p:cNvPr id="8" name="TextBox 7"/>
          <p:cNvSpPr txBox="1"/>
          <p:nvPr/>
        </p:nvSpPr>
        <p:spPr>
          <a:xfrm>
            <a:off x="731520" y="1984248"/>
            <a:ext cx="8503920" cy="86868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Hanui Relay</a:t>
            </a:r>
          </a:p>
        </p:txBody>
      </p:sp>
      <p:sp>
        <p:nvSpPr>
          <p:cNvPr id="9" name="TextBox 8"/>
          <p:cNvSpPr txBox="1"/>
          <p:nvPr/>
        </p:nvSpPr>
        <p:spPr>
          <a:xfrm>
            <a:off x="749808" y="3063240"/>
            <a:ext cx="10698480" cy="621792"/>
          </a:xfrm>
          <a:prstGeom prst="rect">
            <a:avLst/>
          </a:prstGeom>
          <a:noFill/>
        </p:spPr>
        <p:txBody>
          <a:bodyPr wrap="square" lIns="18288" rIns="18288" tIns="9144" bIns="9144">
            <a:spAutoFit/>
          </a:bodyPr>
          <a:lstStyle/>
          <a:p>
            <a:pPr>
              <a:spcAft>
                <a:spcPts val="1000"/>
              </a:spcAft>
              <a:defRPr sz="2600" b="0">
                <a:solidFill>
                  <a:srgbClr val="1C2A24"/>
                </a:solidFill>
                <a:latin typeface="맑은 고딕"/>
              </a:defRPr>
            </a:pPr>
            <a:r>
              <a:t>한의사 진단·지침에서 첫 질문, 답변, 내원 리포트까지</a:t>
            </a:r>
          </a:p>
        </p:txBody>
      </p:sp>
      <p:sp>
        <p:nvSpPr>
          <p:cNvPr id="10" name="Rounded Rectangle 9"/>
          <p:cNvSpPr/>
          <p:nvPr/>
        </p:nvSpPr>
        <p:spPr>
          <a:xfrm>
            <a:off x="749808" y="4882896"/>
            <a:ext cx="4800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59"/>
            <a:ext cx="4572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Track 2 · AI for Human Life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사용자 문제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기록은 쉽게 사라진다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14</a:t>
            </a:r>
          </a:p>
        </p:txBody>
      </p:sp>
      <p:sp>
        <p:nvSpPr>
          <p:cNvPr id="8" name="Rounded Rectangle 7"/>
          <p:cNvSpPr/>
          <p:nvPr/>
        </p:nvSpPr>
        <p:spPr>
          <a:xfrm>
            <a:off x="612648"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1938528"/>
            <a:ext cx="64008" cy="28803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1" name="TextBox 10"/>
          <p:cNvSpPr txBox="1"/>
          <p:nvPr/>
        </p:nvSpPr>
        <p:spPr>
          <a:xfrm>
            <a:off x="841248"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생활 지침을 기억하고 실천했는지 날짜별로 설명해야 합니다.</a:t>
            </a:r>
          </a:p>
        </p:txBody>
      </p:sp>
      <p:sp>
        <p:nvSpPr>
          <p:cNvPr id="12" name="Rounded Rectangle 11"/>
          <p:cNvSpPr/>
          <p:nvPr/>
        </p:nvSpPr>
        <p:spPr>
          <a:xfrm>
            <a:off x="6199632"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938528"/>
            <a:ext cx="64008" cy="28803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5" name="TextBox 14"/>
          <p:cNvSpPr txBox="1"/>
          <p:nvPr/>
        </p:nvSpPr>
        <p:spPr>
          <a:xfrm>
            <a:off x="6428232"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방문에서 자기보고의 맥락과 빈 기간을 짧은 시간에 파악해야 합니다.</a:t>
            </a:r>
          </a:p>
        </p:txBody>
      </p:sp>
      <p:sp>
        <p:nvSpPr>
          <p:cNvPr id="16" name="TextBox 15"/>
          <p:cNvSpPr txBox="1"/>
          <p:nvPr/>
        </p:nvSpPr>
        <p:spPr>
          <a:xfrm>
            <a:off x="731520" y="5303520"/>
            <a:ext cx="1069848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이는 현장 문제에 대한 제품 가설이며, 실제 사용자 조사 결과로 포장하지 않습니다.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생활 지침과 한자 원전의 정보 장벽이 함께 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14</a:t>
            </a:r>
          </a:p>
        </p:txBody>
      </p:sp>
      <p:sp>
        <p:nvSpPr>
          <p:cNvPr id="8" name="Rounded Rectangle 7"/>
          <p:cNvSpPr/>
          <p:nvPr/>
        </p:nvSpPr>
        <p:spPr>
          <a:xfrm>
            <a:off x="77724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수면·식사·활동 등 일상에서 이어지는 지침</a:t>
            </a:r>
          </a:p>
        </p:txBody>
      </p:sp>
      <p:sp>
        <p:nvSpPr>
          <p:cNvPr id="10" name="Rounded Rectangle 9"/>
          <p:cNvSpPr/>
          <p:nvPr/>
        </p:nvSpPr>
        <p:spPr>
          <a:xfrm>
            <a:off x="777240"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2608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고문헌 원문을 환자가 바로 읽기 어려움</a:t>
            </a:r>
          </a:p>
        </p:txBody>
      </p:sp>
      <p:sp>
        <p:nvSpPr>
          <p:cNvPr id="12" name="Rounded Rectangle 11"/>
          <p:cNvSpPr/>
          <p:nvPr/>
        </p:nvSpPr>
        <p:spPr>
          <a:xfrm>
            <a:off x="777240"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3192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환자 설명과 한의사 확인 사이에 출처가 필요</a:t>
            </a:r>
          </a:p>
        </p:txBody>
      </p:sp>
      <p:sp>
        <p:nvSpPr>
          <p:cNvPr id="14" name="Rounded Rectangle 13"/>
          <p:cNvSpPr/>
          <p:nvPr/>
        </p:nvSpPr>
        <p:spPr>
          <a:xfrm>
            <a:off x="768096" y="5340096"/>
            <a:ext cx="841248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5394959"/>
            <a:ext cx="8183879"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목표: 해석과 기록 접근성 / 진단·처방·효능 주장 아님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 흐름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 번의 지침이 다음 방문 자료가 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14</a:t>
            </a:r>
          </a:p>
        </p:txBody>
      </p:sp>
      <p:sp>
        <p:nvSpPr>
          <p:cNvPr id="8" name="Rounded Rectangle 7"/>
          <p:cNvSpPr/>
          <p:nvPr/>
        </p:nvSpPr>
        <p:spPr>
          <a:xfrm>
            <a:off x="594360"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1  한의사 입력</a:t>
            </a:r>
          </a:p>
        </p:txBody>
      </p:sp>
      <p:sp>
        <p:nvSpPr>
          <p:cNvPr id="10" name="TextBox 9"/>
          <p:cNvSpPr txBox="1"/>
          <p:nvPr/>
        </p:nvSpPr>
        <p:spPr>
          <a:xfrm>
            <a:off x="822960"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진단·평가·지침 저장</a:t>
            </a:r>
          </a:p>
        </p:txBody>
      </p:sp>
      <p:sp>
        <p:nvSpPr>
          <p:cNvPr id="11" name="Rounded Rectangle 10"/>
          <p:cNvSpPr/>
          <p:nvPr/>
        </p:nvSpPr>
        <p:spPr>
          <a:xfrm>
            <a:off x="3483864"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2  첫 질문</a:t>
            </a:r>
          </a:p>
        </p:txBody>
      </p:sp>
      <p:sp>
        <p:nvSpPr>
          <p:cNvPr id="13" name="TextBox 12"/>
          <p:cNvSpPr txBox="1"/>
          <p:nvPr/>
        </p:nvSpPr>
        <p:spPr>
          <a:xfrm>
            <a:off x="3712464"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Hanui가 먼저 묻고 환자가 답변</a:t>
            </a:r>
          </a:p>
        </p:txBody>
      </p:sp>
      <p:sp>
        <p:nvSpPr>
          <p:cNvPr id="14" name="Rounded Rectangle 13"/>
          <p:cNvSpPr/>
          <p:nvPr/>
        </p:nvSpPr>
        <p:spPr>
          <a:xfrm>
            <a:off x="6373368"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3  기록·근거</a:t>
            </a:r>
          </a:p>
        </p:txBody>
      </p:sp>
      <p:sp>
        <p:nvSpPr>
          <p:cNvPr id="16" name="TextBox 15"/>
          <p:cNvSpPr txBox="1"/>
          <p:nvPr/>
        </p:nvSpPr>
        <p:spPr>
          <a:xfrm>
            <a:off x="6601968"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실천 코칭·고문헌 탐색</a:t>
            </a:r>
          </a:p>
        </p:txBody>
      </p:sp>
      <p:sp>
        <p:nvSpPr>
          <p:cNvPr id="17" name="Rounded Rectangle 16"/>
          <p:cNvSpPr/>
          <p:nvPr/>
        </p:nvSpPr>
        <p:spPr>
          <a:xfrm>
            <a:off x="9262872"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62872" y="2075688"/>
            <a:ext cx="64008" cy="254203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4  내원</a:t>
            </a:r>
          </a:p>
        </p:txBody>
      </p:sp>
      <p:sp>
        <p:nvSpPr>
          <p:cNvPr id="20" name="TextBox 19"/>
          <p:cNvSpPr txBox="1"/>
          <p:nvPr/>
        </p:nvSpPr>
        <p:spPr>
          <a:xfrm>
            <a:off x="9491472"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14일 리포트·방문 준비</a:t>
            </a:r>
          </a:p>
        </p:txBody>
      </p:sp>
      <p:sp>
        <p:nvSpPr>
          <p:cNvPr id="21" name="TextBox 20"/>
          <p:cNvSpPr txBox="1"/>
          <p:nvPr/>
        </p:nvSpPr>
        <p:spPr>
          <a:xfrm>
            <a:off x="731520" y="5074920"/>
            <a:ext cx="10698480" cy="59436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대화·목표·기록·일정은 세션별 SQLite에 저장되고 재접속 뒤에도 복원됩니다.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AI 판단</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Luna High가 고르고, 서버가 원문을 검증한다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14</a:t>
            </a:r>
          </a:p>
        </p:txBody>
      </p:sp>
      <p:sp>
        <p:nvSpPr>
          <p:cNvPr id="8" name="Rounded Rectangle 7"/>
          <p:cNvSpPr/>
          <p:nvPr/>
        </p:nvSpPr>
        <p:spPr>
          <a:xfrm>
            <a:off x="62179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Luna High</a:t>
            </a:r>
          </a:p>
        </p:txBody>
      </p:sp>
      <p:sp>
        <p:nvSpPr>
          <p:cNvPr id="11" name="TextBox 10"/>
          <p:cNvSpPr txBox="1"/>
          <p:nvPr/>
        </p:nvSpPr>
        <p:spPr>
          <a:xfrm>
            <a:off x="85039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한의사 진단·지침 기반 첫 질문</a:t>
            </a:r>
          </a:p>
          <a:p>
            <a:pPr>
              <a:spcAft>
                <a:spcPts val="1000"/>
              </a:spcAft>
              <a:defRPr sz="1700" b="0">
                <a:solidFill>
                  <a:srgbClr val="1C2A24"/>
                </a:solidFill>
                <a:latin typeface="맑은 고딕"/>
              </a:defRPr>
            </a:pPr>
            <a:r>
              <a:t>답변 기록 후보·DB 검색어 선택</a:t>
            </a:r>
          </a:p>
          <a:p>
            <a:pPr>
              <a:spcAft>
                <a:spcPts val="1000"/>
              </a:spcAft>
              <a:defRPr sz="1700" b="0">
                <a:solidFill>
                  <a:srgbClr val="1C2A24"/>
                </a:solidFill>
                <a:latin typeface="맑은 고딕"/>
              </a:defRPr>
            </a:pPr>
            <a:r>
              <a:t>공개 병원 정보 웹 검색</a:t>
            </a:r>
          </a:p>
        </p:txBody>
      </p:sp>
      <p:sp>
        <p:nvSpPr>
          <p:cNvPr id="12" name="Rounded Rectangle 11"/>
          <p:cNvSpPr/>
          <p:nvPr/>
        </p:nvSpPr>
        <p:spPr>
          <a:xfrm>
            <a:off x="619963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서버 검증</a:t>
            </a:r>
          </a:p>
        </p:txBody>
      </p:sp>
      <p:sp>
        <p:nvSpPr>
          <p:cNvPr id="15" name="TextBox 14"/>
          <p:cNvSpPr txBox="1"/>
          <p:nvPr/>
        </p:nvSpPr>
        <p:spPr>
          <a:xfrm>
            <a:off x="642823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환자 원문·날짜·수치 재확인</a:t>
            </a:r>
          </a:p>
          <a:p>
            <a:pPr>
              <a:spcAft>
                <a:spcPts val="1000"/>
              </a:spcAft>
              <a:defRPr sz="1700" b="0">
                <a:solidFill>
                  <a:srgbClr val="1C2A24"/>
                </a:solidFill>
                <a:latin typeface="맑은 고딕"/>
              </a:defRPr>
            </a:pPr>
            <a:r>
              <a:t>DB 본문 인용 문자열·위치 확인</a:t>
            </a:r>
          </a:p>
          <a:p>
            <a:pPr>
              <a:spcAft>
                <a:spcPts val="1000"/>
              </a:spcAft>
              <a:defRPr sz="1700" b="0">
                <a:solidFill>
                  <a:srgbClr val="1C2A24"/>
                </a:solidFill>
                <a:latin typeface="맑은 고딕"/>
              </a:defRPr>
            </a:pPr>
            <a:r>
              <a:t>세션 소유권·일정 상태 검증</a:t>
            </a:r>
          </a:p>
        </p:txBody>
      </p:sp>
      <p:sp>
        <p:nvSpPr>
          <p:cNvPr id="16" name="TextBox 15"/>
          <p:cNvSpPr txBox="1"/>
          <p:nvPr/>
        </p:nvSpPr>
        <p:spPr>
          <a:xfrm>
            <a:off x="731520" y="5614416"/>
            <a:ext cx="10607040" cy="411480"/>
          </a:xfrm>
          <a:prstGeom prst="rect">
            <a:avLst/>
          </a:prstGeom>
          <a:noFill/>
        </p:spPr>
        <p:txBody>
          <a:bodyPr wrap="square" lIns="18288" rIns="18288" tIns="9144" bIns="9144">
            <a:spAutoFit/>
          </a:bodyPr>
          <a:lstStyle/>
          <a:p>
            <a:pPr>
              <a:spcAft>
                <a:spcPts val="1000"/>
              </a:spcAft>
              <a:defRPr sz="1500" b="1">
                <a:solidFill>
                  <a:srgbClr val="13533D"/>
                </a:solidFill>
                <a:latin typeface="맑은 고딕"/>
              </a:defRPr>
            </a:pPr>
            <a:r>
              <a:t>공식 Codex CLI / 현재 ChatGPT 계정 / gpt-6-luna · high · OpenAI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자료와 출처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99건을 전문 검색하고, 출처의 범위를 드러낸다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14</a:t>
            </a:r>
          </a:p>
        </p:txBody>
      </p:sp>
      <p:sp>
        <p:nvSpPr>
          <p:cNvPr id="8" name="TextBox 7"/>
          <p:cNvSpPr txBox="1"/>
          <p:nvPr/>
        </p:nvSpPr>
        <p:spPr>
          <a:xfrm>
            <a:off x="713232"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42</a:t>
            </a:r>
          </a:p>
        </p:txBody>
      </p:sp>
      <p:sp>
        <p:nvSpPr>
          <p:cNvPr id="9" name="TextBox 8"/>
          <p:cNvSpPr txBox="1"/>
          <p:nvPr/>
        </p:nvSpPr>
        <p:spPr>
          <a:xfrm>
            <a:off x="731520"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현대 자료 자체 요약</a:t>
            </a:r>
          </a:p>
        </p:txBody>
      </p:sp>
      <p:sp>
        <p:nvSpPr>
          <p:cNvPr id="10" name="TextBox 9"/>
          <p:cNvSpPr txBox="1"/>
          <p:nvPr/>
        </p:nvSpPr>
        <p:spPr>
          <a:xfrm>
            <a:off x="5870448"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57</a:t>
            </a:r>
          </a:p>
        </p:txBody>
      </p:sp>
      <p:sp>
        <p:nvSpPr>
          <p:cNvPr id="11" name="TextBox 10"/>
          <p:cNvSpPr txBox="1"/>
          <p:nvPr/>
        </p:nvSpPr>
        <p:spPr>
          <a:xfrm>
            <a:off x="5888736"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고문헌 원문 발췌</a:t>
            </a:r>
          </a:p>
        </p:txBody>
      </p:sp>
      <p:sp>
        <p:nvSpPr>
          <p:cNvPr id="12" name="Rounded Rectangle 11"/>
          <p:cNvSpPr/>
          <p:nvPr/>
        </p:nvSpPr>
        <p:spPr>
          <a:xfrm>
            <a:off x="713232" y="3749039"/>
            <a:ext cx="10607040" cy="12801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41648"/>
            <a:ext cx="9966960" cy="429768"/>
          </a:xfrm>
          <a:prstGeom prst="rect">
            <a:avLst/>
          </a:prstGeom>
          <a:noFill/>
        </p:spPr>
        <p:txBody>
          <a:bodyPr wrap="square" lIns="18288" rIns="18288" tIns="9144" bIns="9144">
            <a:spAutoFit/>
          </a:bodyPr>
          <a:lstStyle/>
          <a:p>
            <a:pPr>
              <a:spcAft>
                <a:spcPts val="1000"/>
              </a:spcAft>
              <a:defRPr sz="2200" b="1">
                <a:solidFill>
                  <a:srgbClr val="1C2A24"/>
                </a:solidFill>
                <a:latin typeface="맑은 고딕"/>
              </a:defRPr>
            </a:pPr>
            <a:r>
              <a:t>동의보감 · 황제내경 · 신농본초경</a:t>
            </a:r>
          </a:p>
        </p:txBody>
      </p:sp>
      <p:sp>
        <p:nvSpPr>
          <p:cNvPr id="14" name="TextBox 13"/>
          <p:cNvSpPr txBox="1"/>
          <p:nvPr/>
        </p:nvSpPr>
        <p:spPr>
          <a:xfrm>
            <a:off x="731520" y="5376672"/>
            <a:ext cx="1060704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한국어 해석은 AI 설명이고, 원문 일치는 문자·위치 수준의 확인입니다.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한의사 진단·지침에서 첫 확인 질문이 시작된다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14</a:t>
            </a:r>
          </a:p>
        </p:txBody>
      </p:sp>
      <p:sp>
        <p:nvSpPr>
          <p:cNvPr id="8" name="Rounded Rectangle 7"/>
          <p:cNvSpPr/>
          <p:nvPr/>
        </p:nvSpPr>
        <p:spPr>
          <a:xfrm>
            <a:off x="5586984" y="1828800"/>
            <a:ext cx="5833872" cy="363931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ing-sequence-v2-crop-0-550.png"/>
          <p:cNvPicPr>
            <a:picLocks noChangeAspect="1"/>
          </p:cNvPicPr>
          <p:nvPr/>
        </p:nvPicPr>
        <p:blipFill>
          <a:blip r:embed="rId2"/>
          <a:stretch>
            <a:fillRect/>
          </a:stretch>
        </p:blipFill>
        <p:spPr>
          <a:xfrm>
            <a:off x="5623560" y="1865376"/>
            <a:ext cx="5760720" cy="3137025"/>
          </a:xfrm>
          <a:prstGeom prst="rect">
            <a:avLst/>
          </a:prstGeom>
        </p:spPr>
      </p:pic>
      <p:sp>
        <p:nvSpPr>
          <p:cNvPr id="10" name="Rounded Rectangle 9"/>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30552"/>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한의사 진단·23시 전 취침 지침</a:t>
            </a:r>
          </a:p>
        </p:txBody>
      </p:sp>
      <p:sp>
        <p:nvSpPr>
          <p:cNvPr id="12" name="Rounded Rectangle 11"/>
          <p:cNvSpPr/>
          <p:nvPr/>
        </p:nvSpPr>
        <p:spPr>
          <a:xfrm>
            <a:off x="685800" y="32095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 ‘어젯밤 몇 시에 주무셨어요?’</a:t>
            </a:r>
          </a:p>
        </p:txBody>
      </p:sp>
      <p:sp>
        <p:nvSpPr>
          <p:cNvPr id="14" name="Rounded Rectangle 13"/>
          <p:cNvSpPr/>
          <p:nvPr/>
        </p:nvSpPr>
        <p:spPr>
          <a:xfrm>
            <a:off x="685800" y="42062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23944"/>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‘새벽 1시·5시간’ → 기록·다음 질문</a:t>
            </a:r>
          </a:p>
        </p:txBody>
      </p:sp>
      <p:sp>
        <p:nvSpPr>
          <p:cNvPr id="16" name="TextBox 15"/>
          <p:cNvSpPr txBox="1"/>
          <p:nvPr/>
        </p:nvSpPr>
        <p:spPr>
          <a:xfrm>
            <a:off x="713232" y="5971032"/>
            <a:ext cx="466344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환자·지침 예시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②</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대화 중 고문헌을 찾아 원문 위치까지 확인</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14</a:t>
            </a:r>
          </a:p>
        </p:txBody>
      </p:sp>
      <p:sp>
        <p:nvSpPr>
          <p:cNvPr id="8" name="Rounded Rectangle 7"/>
          <p:cNvSpPr/>
          <p:nvPr/>
        </p:nvSpPr>
        <p:spPr>
          <a:xfrm>
            <a:off x="5632704" y="2020824"/>
            <a:ext cx="5779008" cy="331927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source-detail-crop-0-335.png"/>
          <p:cNvPicPr>
            <a:picLocks noChangeAspect="1"/>
          </p:cNvPicPr>
          <p:nvPr/>
        </p:nvPicPr>
        <p:blipFill>
          <a:blip r:embed="rId2"/>
          <a:stretch>
            <a:fillRect/>
          </a:stretch>
        </p:blipFill>
        <p:spPr>
          <a:xfrm>
            <a:off x="5669280" y="2057400"/>
            <a:ext cx="5705856" cy="2583056"/>
          </a:xfrm>
          <a:prstGeom prst="rect">
            <a:avLst/>
          </a:prstGeom>
        </p:spPr>
      </p:pic>
      <p:sp>
        <p:nvSpPr>
          <p:cNvPr id="10" name="Rounded Rectangle 9"/>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30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Luna가 질문의 검색어 선택</a:t>
            </a:r>
          </a:p>
        </p:txBody>
      </p:sp>
      <p:sp>
        <p:nvSpPr>
          <p:cNvPr id="12" name="Rounded Rectangle 11"/>
          <p:cNvSpPr/>
          <p:nvPr/>
        </p:nvSpPr>
        <p:spPr>
          <a:xfrm>
            <a:off x="685800" y="320040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1810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SQLite 원문·독해 전문 검색</a:t>
            </a:r>
          </a:p>
        </p:txBody>
      </p:sp>
      <p:sp>
        <p:nvSpPr>
          <p:cNvPr id="14" name="Rounded Rectangle 13"/>
          <p:cNvSpPr/>
          <p:nvPr/>
        </p:nvSpPr>
        <p:spPr>
          <a:xfrm>
            <a:off x="685800" y="41879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원문 인용·장절·문자 위치 표시</a:t>
            </a:r>
          </a:p>
        </p:txBody>
      </p:sp>
      <p:sp>
        <p:nvSpPr>
          <p:cNvPr id="16" name="TextBox 15"/>
          <p:cNvSpPr txBox="1"/>
          <p:nvPr/>
        </p:nvSpPr>
        <p:spPr>
          <a:xfrm>
            <a:off x="713232" y="5925312"/>
            <a:ext cx="5029200" cy="329184"/>
          </a:xfrm>
          <a:prstGeom prst="rect">
            <a:avLst/>
          </a:prstGeom>
          <a:noFill/>
        </p:spPr>
        <p:txBody>
          <a:bodyPr wrap="square" lIns="18288" rIns="18288" tIns="9144" bIns="9144">
            <a:spAutoFit/>
          </a:bodyPr>
          <a:lstStyle/>
          <a:p>
            <a:pPr>
              <a:spcAft>
                <a:spcPts val="1000"/>
              </a:spcAft>
              <a:defRPr sz="1300" b="0">
                <a:solidFill>
                  <a:srgbClr val="5B6E65"/>
                </a:solidFill>
                <a:latin typeface="맑은 고딕"/>
              </a:defRPr>
            </a:pPr>
            <a:r>
              <a:t>역사 기록과 현대 임상 근거를 구분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③</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14일 리포트는 집계부터 문장까지 추적 가능</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09 / 14</a:t>
            </a:r>
          </a:p>
        </p:txBody>
      </p:sp>
      <p:sp>
        <p:nvSpPr>
          <p:cNvPr id="8" name="Rounded Rectangle 7"/>
          <p:cNvSpPr/>
          <p:nvPr/>
        </p:nvSpPr>
        <p:spPr>
          <a:xfrm>
            <a:off x="5650992" y="1792224"/>
            <a:ext cx="5760720" cy="42062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port-evidence-detail-crop-0-690.png"/>
          <p:cNvPicPr>
            <a:picLocks noChangeAspect="1"/>
          </p:cNvPicPr>
          <p:nvPr/>
        </p:nvPicPr>
        <p:blipFill>
          <a:blip r:embed="rId2"/>
          <a:stretch>
            <a:fillRect/>
          </a:stretch>
        </p:blipFill>
        <p:spPr>
          <a:xfrm>
            <a:off x="5687567" y="1828800"/>
            <a:ext cx="5687568" cy="3719831"/>
          </a:xfrm>
          <a:prstGeom prst="rect">
            <a:avLst/>
          </a:prstGeom>
        </p:spPr>
      </p:pic>
      <p:sp>
        <p:nvSpPr>
          <p:cNvPr id="10" name="TextBox 9"/>
          <p:cNvSpPr txBox="1"/>
          <p:nvPr/>
        </p:nvSpPr>
        <p:spPr>
          <a:xfrm>
            <a:off x="722376" y="1956816"/>
            <a:ext cx="4251960" cy="822960"/>
          </a:xfrm>
          <a:prstGeom prst="rect">
            <a:avLst/>
          </a:prstGeom>
          <a:noFill/>
        </p:spPr>
        <p:txBody>
          <a:bodyPr wrap="square" lIns="18288" rIns="18288" tIns="9144" bIns="9144">
            <a:spAutoFit/>
          </a:bodyPr>
          <a:lstStyle/>
          <a:p>
            <a:pPr>
              <a:spcAft>
                <a:spcPts val="1000"/>
              </a:spcAft>
              <a:defRPr sz="4300" b="1">
                <a:solidFill>
                  <a:srgbClr val="13533D"/>
                </a:solidFill>
                <a:latin typeface="맑은 고딕"/>
              </a:defRPr>
            </a:pPr>
            <a:r>
              <a:t>75%</a:t>
            </a:r>
          </a:p>
        </p:txBody>
      </p:sp>
      <p:sp>
        <p:nvSpPr>
          <p:cNvPr id="11" name="TextBox 10"/>
          <p:cNvSpPr txBox="1"/>
          <p:nvPr/>
        </p:nvSpPr>
        <p:spPr>
          <a:xfrm>
            <a:off x="740664" y="2889504"/>
            <a:ext cx="4663440" cy="484632"/>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8일 기록 중 6일 준수</a:t>
            </a:r>
          </a:p>
        </p:txBody>
      </p:sp>
      <p:sp>
        <p:nvSpPr>
          <p:cNvPr id="12" name="TextBox 11"/>
          <p:cNvSpPr txBox="1"/>
          <p:nvPr/>
        </p:nvSpPr>
        <p:spPr>
          <a:xfrm>
            <a:off x="740664" y="3749039"/>
            <a:ext cx="4754880" cy="676656"/>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6일 기록 없음 · 상충 기록 보류</a:t>
            </a:r>
          </a:p>
        </p:txBody>
      </p:sp>
      <p:sp>
        <p:nvSpPr>
          <p:cNvPr id="13" name="TextBox 12"/>
          <p:cNvSpPr txBox="1"/>
          <p:nvPr/>
        </p:nvSpPr>
        <p:spPr>
          <a:xfrm>
            <a:off x="740664" y="4809744"/>
            <a:ext cx="4736592" cy="658368"/>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각 근거에서 원래 환자 대화로 이동</a:t>
            </a:r>
          </a:p>
        </p:txBody>
      </p:sp>
      <p:sp>
        <p:nvSpPr>
          <p:cNvPr id="14" name="TextBox 13"/>
          <p:cNvSpPr txBox="1"/>
          <p:nvPr/>
        </p:nvSpPr>
        <p:spPr>
          <a:xfrm>
            <a:off x="740664" y="5934456"/>
            <a:ext cx="4663440" cy="292608"/>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예시 / 치료 효과 지표 아님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안전한 판정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빈 날과 서로 다른 진술을 임의로 채우지 않는다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10 / 14</a:t>
            </a:r>
          </a:p>
        </p:txBody>
      </p:sp>
      <p:sp>
        <p:nvSpPr>
          <p:cNvPr id="8" name="Rounded Rectangle 7"/>
          <p:cNvSpPr/>
          <p:nvPr/>
        </p:nvSpPr>
        <p:spPr>
          <a:xfrm>
            <a:off x="5660136" y="1810512"/>
            <a:ext cx="5742432" cy="418795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nflict-detail-crop-0-700.png"/>
          <p:cNvPicPr>
            <a:picLocks noChangeAspect="1"/>
          </p:cNvPicPr>
          <p:nvPr/>
        </p:nvPicPr>
        <p:blipFill>
          <a:blip r:embed="rId2"/>
          <a:stretch>
            <a:fillRect/>
          </a:stretch>
        </p:blipFill>
        <p:spPr>
          <a:xfrm>
            <a:off x="5696712" y="1847088"/>
            <a:ext cx="5669280" cy="3761607"/>
          </a:xfrm>
          <a:prstGeom prst="rect">
            <a:avLst/>
          </a:prstGeom>
        </p:spPr>
      </p:pic>
      <p:sp>
        <p:nvSpPr>
          <p:cNvPr id="10" name="Rounded Rectangle 9"/>
          <p:cNvSpPr/>
          <p:nvPr/>
        </p:nvSpPr>
        <p:spPr>
          <a:xfrm>
            <a:off x="694944"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920240"/>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없음 → 실천율 분모 제외</a:t>
            </a:r>
          </a:p>
        </p:txBody>
      </p:sp>
      <p:sp>
        <p:nvSpPr>
          <p:cNvPr id="12" name="Rounded Rectangle 11"/>
          <p:cNvSpPr/>
          <p:nvPr/>
        </p:nvSpPr>
        <p:spPr>
          <a:xfrm>
            <a:off x="694944"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275234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같은 날 상충 수치 → 보류</a:t>
            </a:r>
          </a:p>
        </p:txBody>
      </p:sp>
      <p:sp>
        <p:nvSpPr>
          <p:cNvPr id="14" name="Rounded Rectangle 13"/>
          <p:cNvSpPr/>
          <p:nvPr/>
        </p:nvSpPr>
        <p:spPr>
          <a:xfrm>
            <a:off x="694944"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58444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가정·미래·타인의 말 → 미기록</a:t>
            </a:r>
          </a:p>
        </p:txBody>
      </p:sp>
      <p:sp>
        <p:nvSpPr>
          <p:cNvPr id="16" name="Rounded Rectangle 15"/>
          <p:cNvSpPr/>
          <p:nvPr/>
        </p:nvSpPr>
        <p:spPr>
          <a:xfrm>
            <a:off x="694944"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416552"/>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사용자가 잘못 잡힌 관찰을 제외</a:t>
            </a:r>
          </a:p>
        </p:txBody>
      </p:sp>
      <p:sp>
        <p:nvSpPr>
          <p:cNvPr id="18" name="TextBox 17"/>
          <p:cNvSpPr txBox="1"/>
          <p:nvPr/>
        </p:nvSpPr>
        <p:spPr>
          <a:xfrm>
            <a:off x="713232" y="5925312"/>
            <a:ext cx="4937760" cy="34747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의료 판단 정확성·실사용 효과는 앞으로 검증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방문 준비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정보에서 자체 캘린더와 ICS까지</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11 / 14</a:t>
            </a:r>
          </a:p>
        </p:txBody>
      </p:sp>
      <p:sp>
        <p:nvSpPr>
          <p:cNvPr id="8" name="Rounded Rectangle 7"/>
          <p:cNvSpPr/>
          <p:nvPr/>
        </p:nvSpPr>
        <p:spPr>
          <a:xfrm>
            <a:off x="5678424" y="1691639"/>
            <a:ext cx="5724144" cy="449884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0-1337.png"/>
          <p:cNvPicPr>
            <a:picLocks noChangeAspect="1"/>
          </p:cNvPicPr>
          <p:nvPr/>
        </p:nvPicPr>
        <p:blipFill>
          <a:blip r:embed="rId2"/>
          <a:stretch>
            <a:fillRect/>
          </a:stretch>
        </p:blipFill>
        <p:spPr>
          <a:xfrm>
            <a:off x="6157174" y="1728216"/>
            <a:ext cx="4766643" cy="4425696"/>
          </a:xfrm>
          <a:prstGeom prst="rect">
            <a:avLst/>
          </a:prstGeom>
        </p:spPr>
      </p:pic>
      <p:sp>
        <p:nvSpPr>
          <p:cNvPr id="10" name="Rounded Rectangle 9"/>
          <p:cNvSpPr/>
          <p:nvPr/>
        </p:nvSpPr>
        <p:spPr>
          <a:xfrm>
            <a:off x="68580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20240"/>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Luna High의 실제 공개 정보 검색</a:t>
            </a:r>
          </a:p>
        </p:txBody>
      </p:sp>
      <p:sp>
        <p:nvSpPr>
          <p:cNvPr id="12" name="Rounded Rectangle 11"/>
          <p:cNvSpPr/>
          <p:nvPr/>
        </p:nvSpPr>
        <p:spPr>
          <a:xfrm>
            <a:off x="685800"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5234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링크로 외부 접수</a:t>
            </a:r>
          </a:p>
        </p:txBody>
      </p:sp>
      <p:sp>
        <p:nvSpPr>
          <p:cNvPr id="14" name="Rounded Rectangle 13"/>
          <p:cNvSpPr/>
          <p:nvPr/>
        </p:nvSpPr>
        <p:spPr>
          <a:xfrm>
            <a:off x="685800"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84448"/>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 확정 보고 후 방문 일정</a:t>
            </a:r>
          </a:p>
        </p:txBody>
      </p:sp>
      <p:sp>
        <p:nvSpPr>
          <p:cNvPr id="16" name="Rounded Rectangle 15"/>
          <p:cNvSpPr/>
          <p:nvPr/>
        </p:nvSpPr>
        <p:spPr>
          <a:xfrm>
            <a:off x="685800"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16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대화로 일정 추가·수정·삭제</a:t>
            </a:r>
          </a:p>
        </p:txBody>
      </p:sp>
      <p:sp>
        <p:nvSpPr>
          <p:cNvPr id="18" name="TextBox 17"/>
          <p:cNvSpPr txBox="1"/>
          <p:nvPr/>
        </p:nvSpPr>
        <p:spPr>
          <a:xfrm>
            <a:off x="713232" y="5925312"/>
            <a:ext cx="5212080" cy="30175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예약 준비와 병원의 실제 접수는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개선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작동한 범위와 남은 가설을 분리했다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12 / 14</a:t>
            </a:r>
          </a:p>
        </p:txBody>
      </p:sp>
      <p:sp>
        <p:nvSpPr>
          <p:cNvPr id="8" name="Rounded Rectangle 7"/>
          <p:cNvSpPr/>
          <p:nvPr/>
        </p:nvSpPr>
        <p:spPr>
          <a:xfrm>
            <a:off x="621792"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확인</a:t>
            </a:r>
          </a:p>
        </p:txBody>
      </p:sp>
      <p:sp>
        <p:nvSpPr>
          <p:cNvPr id="11" name="TextBox 10"/>
          <p:cNvSpPr txBox="1"/>
          <p:nvPr/>
        </p:nvSpPr>
        <p:spPr>
          <a:xfrm>
            <a:off x="850392"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76개 통과</a:t>
            </a:r>
          </a:p>
          <a:p>
            <a:pPr>
              <a:spcAft>
                <a:spcPts val="1000"/>
              </a:spcAft>
              <a:defRPr sz="1700" b="0">
                <a:solidFill>
                  <a:srgbClr val="1C2A24"/>
                </a:solidFill>
                <a:latin typeface="맑은 고딕"/>
              </a:defRPr>
            </a:pPr>
            <a:r>
              <a:t>실제 Luna 선행질문→코칭 1회</a:t>
            </a:r>
          </a:p>
          <a:p>
            <a:pPr>
              <a:spcAft>
                <a:spcPts val="1000"/>
              </a:spcAft>
              <a:defRPr sz="1700" b="0">
                <a:solidFill>
                  <a:srgbClr val="1C2A24"/>
                </a:solidFill>
                <a:latin typeface="맑은 고딕"/>
              </a:defRPr>
            </a:pPr>
            <a:r>
              <a:t>지침 4턴·달력 8턴·고문헌 1턴</a:t>
            </a:r>
          </a:p>
        </p:txBody>
      </p:sp>
      <p:sp>
        <p:nvSpPr>
          <p:cNvPr id="12" name="Rounded Rectangle 11"/>
          <p:cNvSpPr/>
          <p:nvPr/>
        </p:nvSpPr>
        <p:spPr>
          <a:xfrm>
            <a:off x="6190488"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수정·남은 과제</a:t>
            </a:r>
          </a:p>
        </p:txBody>
      </p:sp>
      <p:sp>
        <p:nvSpPr>
          <p:cNvPr id="15" name="TextBox 14"/>
          <p:cNvSpPr txBox="1"/>
          <p:nvPr/>
        </p:nvSpPr>
        <p:spPr>
          <a:xfrm>
            <a:off x="6419088"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상충 기록 보류·빈 날 명시</a:t>
            </a:r>
          </a:p>
          <a:p>
            <a:pPr>
              <a:spcAft>
                <a:spcPts val="1000"/>
              </a:spcAft>
              <a:defRPr sz="1700" b="0">
                <a:solidFill>
                  <a:srgbClr val="1C2A24"/>
                </a:solidFill>
                <a:latin typeface="맑은 고딕"/>
              </a:defRPr>
            </a:pPr>
            <a:r>
              <a:t>인용 원문 일치·세션 분리 확인</a:t>
            </a:r>
          </a:p>
          <a:p>
            <a:pPr>
              <a:spcAft>
                <a:spcPts val="1000"/>
              </a:spcAft>
              <a:defRPr sz="1700" b="0">
                <a:solidFill>
                  <a:srgbClr val="1C2A24"/>
                </a:solidFill>
                <a:latin typeface="맑은 고딕"/>
              </a:defRPr>
            </a:pPr>
            <a:r>
              <a:t>임상 해석·사용자 효과는 미검증</a:t>
            </a:r>
          </a:p>
        </p:txBody>
      </p:sp>
      <p:sp>
        <p:nvSpPr>
          <p:cNvPr id="16" name="TextBox 15"/>
          <p:cNvSpPr txBox="1"/>
          <p:nvPr/>
        </p:nvSpPr>
        <p:spPr>
          <a:xfrm>
            <a:off x="731520" y="5541264"/>
            <a:ext cx="10607040" cy="475488"/>
          </a:xfrm>
          <a:prstGeom prst="rect">
            <a:avLst/>
          </a:prstGeom>
          <a:noFill/>
        </p:spPr>
        <p:txBody>
          <a:bodyPr wrap="square" lIns="18288" rIns="18288" tIns="9144" bIns="9144">
            <a:spAutoFit/>
          </a:bodyPr>
          <a:lstStyle/>
          <a:p>
            <a:pPr>
              <a:spcAft>
                <a:spcPts val="1000"/>
              </a:spcAft>
              <a:defRPr sz="1600" b="0">
                <a:solidFill>
                  <a:srgbClr val="5B6E65"/>
                </a:solidFill>
                <a:latin typeface="맑은 고딕"/>
              </a:defRPr>
            </a:pPr>
            <a:r>
              <a:t>실제 계정 연결 검증과 화면용 합성 데이터 검증은 별도로 수행했습니다.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CODEX 과정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Codex가 구현하고, 원문과 작동을 대조했다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13 / 14</a:t>
            </a:r>
          </a:p>
        </p:txBody>
      </p:sp>
      <p:sp>
        <p:nvSpPr>
          <p:cNvPr id="8" name="Rounded Rectangle 7"/>
          <p:cNvSpPr/>
          <p:nvPr/>
        </p:nvSpPr>
        <p:spPr>
          <a:xfrm>
            <a:off x="749808" y="203911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5681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Codex: 서버·DB·UI·검색·테스트·자료 정리</a:t>
            </a:r>
          </a:p>
        </p:txBody>
      </p:sp>
      <p:sp>
        <p:nvSpPr>
          <p:cNvPr id="10" name="Rounded Rectangle 9"/>
          <p:cNvSpPr/>
          <p:nvPr/>
        </p:nvSpPr>
        <p:spPr>
          <a:xfrm>
            <a:off x="749808" y="3035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53512"/>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Codex 검토: 원전 판본·인용 위치·생활 판정·화면 동작</a:t>
            </a:r>
          </a:p>
        </p:txBody>
      </p:sp>
      <p:sp>
        <p:nvSpPr>
          <p:cNvPr id="12" name="Rounded Rectangle 11"/>
          <p:cNvSpPr/>
          <p:nvPr/>
        </p:nvSpPr>
        <p:spPr>
          <a:xfrm>
            <a:off x="749808" y="403250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5020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사용자 피드백: 핵심 집중, 대화창 확대, 해석 우선 표시</a:t>
            </a:r>
          </a:p>
        </p:txBody>
      </p:sp>
      <p:sp>
        <p:nvSpPr>
          <p:cNvPr id="14" name="Rounded Rectangle 13"/>
          <p:cNvSpPr/>
          <p:nvPr/>
        </p:nvSpPr>
        <p:spPr>
          <a:xfrm>
            <a:off x="749808" y="5330952"/>
            <a:ext cx="76809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85816"/>
            <a:ext cx="74523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당일 코드·검증과 사전 기획을 구분해 기록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도입 가능성</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다음 만남의 준비 시간을 줄일 수 있는지 검증한다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14 / 14</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도입·비용 주체: 한의원 / 사용자: 환자</a:t>
            </a:r>
          </a:p>
        </p:txBody>
      </p:sp>
      <p:sp>
        <p:nvSpPr>
          <p:cNvPr id="10" name="Rounded Rectangle 9"/>
          <p:cNvSpPr/>
          <p:nvPr/>
        </p:nvSpPr>
        <p:spPr>
          <a:xfrm>
            <a:off x="749808" y="29809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89864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가치 가설: 내원 전 기록 확인과 반복 질문 부담 감소</a:t>
            </a:r>
          </a:p>
        </p:txBody>
      </p:sp>
      <p:sp>
        <p:nvSpPr>
          <p:cNvPr id="12" name="Rounded Rectangle 11"/>
          <p:cNvSpPr/>
          <p:nvPr/>
        </p:nvSpPr>
        <p:spPr>
          <a:xfrm>
            <a:off x="749808" y="39593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87705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작은 파일럿: 확인 시간·재사용률·모델 호출 비용 측정</a:t>
            </a:r>
          </a:p>
        </p:txBody>
      </p:sp>
      <p:sp>
        <p:nvSpPr>
          <p:cNvPr id="14" name="Rounded Rectangle 13"/>
          <p:cNvSpPr/>
          <p:nvPr/>
        </p:nvSpPr>
        <p:spPr>
          <a:xfrm>
            <a:off x="749808" y="5394960"/>
            <a:ext cx="9738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9509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지침 변경·재방문마다 기록 연결 · 가격과 효과는 아직 미측정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